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8" r:id="rId4"/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B9A9B-35B0-4A77-90D0-4709DCEDB5FE}" type="datetimeFigureOut">
              <a:rPr lang="en-IN" smtClean="0"/>
              <a:t>13-08-2025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F0D878-A2DD-4898-9259-73416D55A1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21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1302-6C50-C229-8B77-974E4FCD4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CD43BD-E080-FECA-2954-1590FF2A8D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BB85-0E84-D1D7-09C5-5282F477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F4DE5-22F5-45D2-98B8-790749FA3C76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E91C6-6F18-E4C1-D9F7-D518C834E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A751F-93C0-546F-4F94-64B3D764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014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55572-5A39-D9E5-271B-E201841BA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50F7-AA45-A2A9-0DA1-1C61E58A7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EC40E-2021-20BC-4489-B92BA124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DBECB-B596-4E8E-A054-C672707E04ED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4A91A-F273-B037-F1DB-DC0A27ED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2FA1D-A4C8-1EB4-4326-E67B90BF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0A882C06-2E08-4660-AFA0-F49D0D3D8E7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477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0E88-0646-CBD3-DD6D-83B1B7EE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67CFA-0EDC-C3A7-2BBB-78411F462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45A9-63FA-A441-2848-AF2AC344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5C372-F065-43EA-8BB0-2314FED3B0DC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EC9CA-D38D-9C0F-2432-FD568D89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680F9D-3A7D-C154-868F-BD37B07E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18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55A9-F6A0-7C17-F814-980783DBF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BD476-FDB2-1F16-E54C-1EF415EF0F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2CA45E-C346-1D93-7A3F-6FE81E6FA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DA765-B662-7FB9-A7D1-89D0AF8DD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1E1E4-4C1A-4BEE-A029-D5BECBB53AE9}" type="datetime1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C9447-B071-1578-EF39-EB84F877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DDE5A-1B2C-595D-B3F9-1602C297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63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CB45-9089-1403-48AF-793ADC341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A5B5A-C3F5-A56E-8AFD-A72C4459C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ECF2F-DDF2-D7F6-AAB2-9D0D51A13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397BF7-5C0F-E60F-271A-9BEF306F55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B86E5E-8AEA-4F07-2D73-F83A4DCEB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9A19FB-C0EC-FBD2-E148-03004086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48D16-23E7-4BF2-987B-F83352B422F2}" type="datetime1">
              <a:rPr lang="en-IN" smtClean="0"/>
              <a:t>13-08-2025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EA51F6-69C5-4B33-37D6-0F033916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8AC665-4ABB-32B6-E4C9-DDDEDFD3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448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F6375-39DB-CD0E-6FD6-31566385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4C08F7-3296-B772-4F39-7D1778CCE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A08BC-BABC-4F5B-8723-2ACDE0E3B03B}" type="datetime1">
              <a:rPr lang="en-IN" smtClean="0"/>
              <a:t>13-08-2025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020AF5-8728-D673-F835-D3094B0E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A2F22-A91F-66D7-8E62-7A3BA6C6B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5613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D5CDF7-2B5C-2160-0152-E8AD7D40E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36239-DA52-4428-9807-94F720E20251}" type="datetime1">
              <a:rPr lang="en-IN" smtClean="0"/>
              <a:t>13-08-2025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AD95D1-4F58-83A8-DF6C-CDFB54B4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FA095-5505-6D9B-EEA6-B4474495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34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8ABF7-7B56-6B53-10B8-B052574A4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8CA1-B82A-1BC2-C62C-39DDCF07A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3E2F5-400A-EF77-3DF6-0D003EA95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3B9FE-8393-7F35-3DE2-61843374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D3CB-5FB7-4C67-A8CB-DECBA2F67E7D}" type="datetime1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BDCB4-CF65-C0D9-471B-50241F572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388D4-31C5-0E2D-3FC2-0D6949BB7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00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36432-C23C-36F0-165A-AA677FE2D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91A39F-599C-2D72-D469-244C6F3AE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E73C5-31AF-8ECD-A0F8-D7830B086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16064-607A-A29E-5958-1CC8E4D3A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A94E2-4AC4-48EE-B59F-C0C799E9B3AD}" type="datetime1">
              <a:rPr lang="en-IN" smtClean="0"/>
              <a:t>13-08-2025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36E96-B714-837B-274D-2A385254C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40F99-4CE8-309B-C2FC-752BA0DD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97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678A-9BF7-F32E-37C1-1AB338F3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6E5F12-A0E9-ECD6-C192-D5F38C0E5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BAC2F-ED95-0974-CD4F-0D3512DEA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D1C73-0F03-4A0D-8015-7E83B9A3B842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59F1-362F-91C3-16A9-34479C8D2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1587B-3657-B893-B0B0-A47EC3006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92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14FA4-9BA8-1125-573D-1077ECA7BD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238D66-3CF5-4F2D-82B6-6D35195A9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28DA6-9F2F-D5C1-5A9B-A1025B7B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E819A-81F9-4EEC-9609-A875CDE0C730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F4099-6A9E-BECA-DB81-A6B9961C7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E362B-907E-10D5-EE99-AE35555B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8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0ECC7-E978-FDA8-2267-5A3AA8398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239A9-D79F-3142-2276-5705DE9D7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9C571-62F0-FC09-75EC-689F61D6D9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9E7EC-37A4-4832-95EE-2B1449BB7577}" type="datetime1">
              <a:rPr lang="en-IN" smtClean="0"/>
              <a:t>13-08-2025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119C4-38FE-79FD-4BE1-EBFA29727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9339BF-B7FF-C972-ACFE-985511D75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82C06-2E08-4660-AFA0-F49D0D3D8E7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0140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3DBD-51E3-C4A7-1CC7-9E601E72C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156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ME6491E COMPUTATIONAL LAB FOR ENERGY ENGINEERING </a:t>
            </a:r>
            <a:endParaRPr lang="en-IN" sz="32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D6E59-1DCA-A39E-D351-F306CE91F3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Ansys Fluent – Simulation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1BFC5-FA31-CB0B-A63F-952798F2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958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5EE3E-7BE6-1B55-F2DF-7DF8580A0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464" y="409282"/>
            <a:ext cx="10515600" cy="785249"/>
          </a:xfrm>
        </p:spPr>
        <p:txBody>
          <a:bodyPr>
            <a:normAutofit fontScale="90000"/>
          </a:bodyPr>
          <a:lstStyle/>
          <a:p>
            <a:r>
              <a:rPr lang="en-IN" sz="2700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Ansys?</a:t>
            </a:r>
            <a:br>
              <a:rPr lang="en-IN" kern="100" dirty="0">
                <a:solidFill>
                  <a:srgbClr val="C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BE141-2ED0-FBFC-A3A3-98A6B53C3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63" y="984967"/>
            <a:ext cx="10931013" cy="115137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Ansys is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simulation software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analyze and solve complex engineering problems through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Computer-Aided Engineering.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A64C3-2343-4CF4-208D-AD3A3ED0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B0540F-0CDE-13C2-6625-189F42CA9659}"/>
              </a:ext>
            </a:extLst>
          </p:cNvPr>
          <p:cNvSpPr txBox="1"/>
          <p:nvPr/>
        </p:nvSpPr>
        <p:spPr>
          <a:xfrm>
            <a:off x="705464" y="2724593"/>
            <a:ext cx="10931012" cy="1416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Ansys ?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engineers to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how a product will behave in the real world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physically building and testing it.</a:t>
            </a:r>
          </a:p>
        </p:txBody>
      </p:sp>
    </p:spTree>
    <p:extLst>
      <p:ext uri="{BB962C8B-B14F-4D97-AF65-F5344CB8AC3E}">
        <p14:creationId xmlns:p14="http://schemas.microsoft.com/office/powerpoint/2010/main" val="2760905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79EA-1038-D282-7287-9EE83F479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3018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Ansys can do?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06E86-5709-5907-8DF1-75B18584F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5406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Structural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stresses, deformation, vibration etc.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Dynamics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liquid flow, turbulence etc.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Analysis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heat transfer, temperature effects etc.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electric/magnetic field simulations</a:t>
            </a:r>
          </a:p>
          <a:p>
            <a:pPr>
              <a:lnSpc>
                <a:spcPct val="15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Multi-Physics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combined effects (e.g., fluid-structure interaction)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4BF11-BCA2-D323-D1A4-B780E5BA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135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25C41-54ED-E830-58DA-90EBF211D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8772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Ansys Workbench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E9005-DB78-2207-C9DF-73A6FB4A5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8286"/>
            <a:ext cx="3689555" cy="5228064"/>
          </a:xfrm>
        </p:spPr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platform for engineering simulation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CAD, pre-processing, solving, and post-processing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drag-and-drop interface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industries: automotive, aerospace, energy, etc.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1D816-0A84-C18E-9555-2F99A9C65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064" y="365126"/>
            <a:ext cx="5820365" cy="59901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CECF-63DC-A612-B74A-E6F0D3D61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421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F3012-9AB5-51F2-5A00-0538A4007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87" y="1442166"/>
            <a:ext cx="10515600" cy="4351338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ANSYS Fluent is a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Fluid Dynamics (CFD)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used to simulate fluid flow, heat transfer, turbulence, chemical reactions, etc.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solves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governing equations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 with a fluid flow such as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continuity equation, momentum equation and energy equation.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43EDF-F5C5-7755-680E-75564A99EBFD}"/>
              </a:ext>
            </a:extLst>
          </p:cNvPr>
          <p:cNvSpPr txBox="1"/>
          <p:nvPr/>
        </p:nvSpPr>
        <p:spPr>
          <a:xfrm>
            <a:off x="689487" y="645508"/>
            <a:ext cx="6098458" cy="460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Ansys Fluent?</a:t>
            </a:r>
            <a:endParaRPr lang="en-IN" sz="2400" kern="1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47257-0E29-CDFD-A2BD-BFBBC00F7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19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81A-24A7-5FA1-7B8B-1481A8DE9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68" y="235974"/>
            <a:ext cx="10515600" cy="1089589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Workflow in Fluent</a:t>
            </a:r>
            <a:endParaRPr lang="en-IN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B9E0D-B2FA-FD2F-8D79-71BE3B29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5612" y="1325563"/>
            <a:ext cx="4294239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Geometry Creation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Meshing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Setup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Solution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Postprocessing</a:t>
            </a:r>
          </a:p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BD6B4C-8B36-7FCD-9E65-2F4AF760D946}"/>
              </a:ext>
            </a:extLst>
          </p:cNvPr>
          <p:cNvGrpSpPr/>
          <p:nvPr/>
        </p:nvGrpSpPr>
        <p:grpSpPr>
          <a:xfrm>
            <a:off x="3248332" y="1493993"/>
            <a:ext cx="5695336" cy="3493635"/>
            <a:chOff x="1578077" y="1449748"/>
            <a:chExt cx="5695336" cy="349363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FC06346-9691-CB94-8460-4390101D7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5647" y="1449748"/>
              <a:ext cx="3647766" cy="3493635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99B20AA-B179-347F-F279-EF76D328A636}"/>
                </a:ext>
              </a:extLst>
            </p:cNvPr>
            <p:cNvCxnSpPr>
              <a:cxnSpLocks/>
            </p:cNvCxnSpPr>
            <p:nvPr/>
          </p:nvCxnSpPr>
          <p:spPr>
            <a:xfrm>
              <a:off x="2979174" y="1607574"/>
              <a:ext cx="847034" cy="92796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3123C10-FD71-321F-14D2-C60D7E69F3FE}"/>
                </a:ext>
              </a:extLst>
            </p:cNvPr>
            <p:cNvCxnSpPr>
              <a:cxnSpLocks/>
            </p:cNvCxnSpPr>
            <p:nvPr/>
          </p:nvCxnSpPr>
          <p:spPr>
            <a:xfrm>
              <a:off x="1759974" y="2278747"/>
              <a:ext cx="2066234" cy="62882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8599376-D7B8-BF39-B6D8-27AD145C10EA}"/>
                </a:ext>
              </a:extLst>
            </p:cNvPr>
            <p:cNvCxnSpPr>
              <a:cxnSpLocks/>
            </p:cNvCxnSpPr>
            <p:nvPr/>
          </p:nvCxnSpPr>
          <p:spPr>
            <a:xfrm>
              <a:off x="1578077" y="2872271"/>
              <a:ext cx="2248131" cy="48936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F0E7FEF-A942-C054-8104-7415D2B7DEBE}"/>
                </a:ext>
              </a:extLst>
            </p:cNvPr>
            <p:cNvCxnSpPr>
              <a:cxnSpLocks/>
            </p:cNvCxnSpPr>
            <p:nvPr/>
          </p:nvCxnSpPr>
          <p:spPr>
            <a:xfrm>
              <a:off x="1759974" y="3488115"/>
              <a:ext cx="2066234" cy="21315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A6B3E63-5EAC-8C1B-3031-A019BBB77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92477" y="4082243"/>
              <a:ext cx="1333731" cy="6030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CC52F6-CD89-A6CF-F4FF-5F5B3F55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857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DDEE4-E698-1ABA-526B-DCC38727C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87" y="130629"/>
            <a:ext cx="11475300" cy="6603999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Geometry Creation</a:t>
            </a:r>
          </a:p>
          <a:p>
            <a:pPr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required geometry is created in this section and dimensions are given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ANSYS SpaceClaim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DesignModeler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import geometry from CAD software.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must be in such a way that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regions are clearly defined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 Meshing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Meshing divides the domain into small control volumes.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mesh: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tetrahedral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hexahedral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Finer mesh → more accurate results (but increased computation).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Giving names to required parts could be done in this section</a:t>
            </a:r>
          </a:p>
          <a:p>
            <a:pPr lvl="0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156163-2B86-80ED-16E0-5DFFB654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78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8C082-B0F8-CBB8-4C88-8C1F09FE4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83" y="311925"/>
            <a:ext cx="11225746" cy="595824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Setup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 models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 type: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Pressure-based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Density-based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type: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Laminar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Turbulent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equation (if heat transfer is involved)</a:t>
            </a:r>
          </a:p>
          <a:p>
            <a:pPr lvl="1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Multiphase, species transport, etc. if needed.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properties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(fluid, solid).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boundary conditions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(inlet, outlet, wall, symmetry).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solution.</a:t>
            </a:r>
          </a:p>
          <a:p>
            <a:pPr marL="0" indent="0" algn="just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473B7-31B0-50AE-2809-057EE576A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255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E2D65-5666-77AD-054D-820C01F6A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007" y="291792"/>
            <a:ext cx="11608736" cy="632672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Solution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solution methods (e.g.,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Semi-Implicit Method for Pressure-Linked Equations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PISO-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Pressure Implicit with Splitting of Operators).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iterations and monitor residuals.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convergence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(residuals drop below threshold, monitor variables stabilize).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Postprocessing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contour plots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vectors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plots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</a:t>
            </a:r>
          </a:p>
          <a:p>
            <a:pPr lvl="0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important parameters: pressure drop, heat flux, drag force, etc.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EE93D2-20B1-1033-E176-85B7C330C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12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3179-F92D-346C-0081-44DB86B0D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15" y="307067"/>
            <a:ext cx="10515600" cy="1325563"/>
          </a:xfrm>
        </p:spPr>
        <p:txBody>
          <a:bodyPr/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Concepts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4F27A45-8A8A-982F-BFB3-0E7DC5B3D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355924"/>
              </p:ext>
            </p:extLst>
          </p:nvPr>
        </p:nvGraphicFramePr>
        <p:xfrm>
          <a:off x="1710872" y="1100861"/>
          <a:ext cx="8770256" cy="46562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62208">
                  <a:extLst>
                    <a:ext uri="{9D8B030D-6E8A-4147-A177-3AD203B41FA5}">
                      <a16:colId xmlns:a16="http://schemas.microsoft.com/office/drawing/2014/main" val="3692269800"/>
                    </a:ext>
                  </a:extLst>
                </a:gridCol>
                <a:gridCol w="5708048">
                  <a:extLst>
                    <a:ext uri="{9D8B030D-6E8A-4147-A177-3AD203B41FA5}">
                      <a16:colId xmlns:a16="http://schemas.microsoft.com/office/drawing/2014/main" val="2451999651"/>
                    </a:ext>
                  </a:extLst>
                </a:gridCol>
              </a:tblGrid>
              <a:tr h="5822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Terms</a:t>
                      </a:r>
                      <a:endParaRPr lang="en-IN" sz="2200" kern="1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accent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200" kern="100" dirty="0">
                        <a:solidFill>
                          <a:schemeClr val="accent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204633"/>
                  </a:ext>
                </a:extLst>
              </a:tr>
              <a:tr h="774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Cell Zone</a:t>
                      </a:r>
                      <a:endParaRPr lang="en-IN" sz="2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 of the mesh assigned to a specific material.</a:t>
                      </a:r>
                      <a:endParaRPr lang="en-IN" sz="22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00046"/>
                  </a:ext>
                </a:extLst>
              </a:tr>
              <a:tr h="116980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Boundary Condition</a:t>
                      </a:r>
                      <a:endParaRPr lang="en-IN" sz="2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how the fluid interacts with the boundaries (e.g., velocity inlet, pressure outlet, no-slip wall).</a:t>
                      </a:r>
                      <a:endParaRPr lang="en-IN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160756"/>
                  </a:ext>
                </a:extLst>
              </a:tr>
              <a:tr h="774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Turbulence Models</a:t>
                      </a:r>
                      <a:endParaRPr lang="en-IN" sz="2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when simulating turbulent flow (e.g., k-ε, k-ω).</a:t>
                      </a:r>
                      <a:endParaRPr lang="en-IN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63139"/>
                  </a:ext>
                </a:extLst>
              </a:tr>
              <a:tr h="774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Residuals</a:t>
                      </a:r>
                      <a:endParaRPr lang="en-IN" sz="2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 of solution error – must reduce to indicate convergence.</a:t>
                      </a:r>
                      <a:endParaRPr lang="en-IN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896074"/>
                  </a:ext>
                </a:extLst>
              </a:tr>
              <a:tr h="58221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CFD Post</a:t>
                      </a:r>
                      <a:endParaRPr lang="en-IN" sz="22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2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 to visualize simulation results.</a:t>
                      </a:r>
                      <a:endParaRPr lang="en-IN" sz="22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66552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8AC75-2BD1-D2B3-A42A-EA495EF77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123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8FD7-3F30-EF71-38D6-9C6A43C2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3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Errors to Avoid</a:t>
            </a:r>
            <a:endParaRPr lang="en-I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57BB7-7CEF-2D2C-DCDA-C7D93FD18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740"/>
            <a:ext cx="10515600" cy="4351338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mesh quality → affects accuracy and convergence.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boundary conditions → unrealistic results.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Forgetting to turn on physical models (e.g., energy equation for heat transfer).</a:t>
            </a:r>
          </a:p>
          <a:p>
            <a:pPr lvl="0" algn="just">
              <a:lnSpc>
                <a:spcPct val="150000"/>
              </a:lnSpc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checking units consistently.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A690F-1FB4-E50F-9436-51CABE9A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343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54E4-6815-4F2E-2B74-660DDC756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67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Computational Experiments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E5DC-45DE-16B0-36BC-5651A6301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67" y="1147199"/>
            <a:ext cx="10916265" cy="4914183"/>
          </a:xfrm>
        </p:spPr>
        <p:txBody>
          <a:bodyPr>
            <a:norm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Fluid flow and heat transfer in a mixing elbow-pipe and comparison of accuracies of discretization schemes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past a cylinder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transfer in a concentric pipe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boundary layer flow over a flat plate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Unsteady heat transfer from suddenly dropped hot square plate or slab in cold water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65F21-B817-E0C9-A9E4-64F601BEC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40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2F6D-C7F2-7977-E415-863C574A0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477" y="237013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8CA05-03B9-1A12-DEA0-BCC3FD1D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2C06-2E08-4660-AFA0-F49D0D3D8E76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7933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630</Words>
  <Application>Microsoft Office PowerPoint</Application>
  <PresentationFormat>Widescreen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ME6491E COMPUTATIONAL LAB FOR ENERGY ENGINEERING </vt:lpstr>
      <vt:lpstr>What is Ansys? </vt:lpstr>
      <vt:lpstr>What Ansys can do?</vt:lpstr>
      <vt:lpstr>Ansys Workbench</vt:lpstr>
      <vt:lpstr>PowerPoint Presentation</vt:lpstr>
      <vt:lpstr>General Workflow in Fluent</vt:lpstr>
      <vt:lpstr>PowerPoint Presentation</vt:lpstr>
      <vt:lpstr>PowerPoint Presentation</vt:lpstr>
      <vt:lpstr>PowerPoint Presentation</vt:lpstr>
      <vt:lpstr>Important Concepts </vt:lpstr>
      <vt:lpstr>Common Errors to Avoid</vt:lpstr>
      <vt:lpstr>List of Computational Experiments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gk</dc:creator>
  <cp:lastModifiedBy>gk</cp:lastModifiedBy>
  <cp:revision>32</cp:revision>
  <dcterms:created xsi:type="dcterms:W3CDTF">2025-08-12T04:55:41Z</dcterms:created>
  <dcterms:modified xsi:type="dcterms:W3CDTF">2025-08-13T15:49:22Z</dcterms:modified>
</cp:coreProperties>
</file>